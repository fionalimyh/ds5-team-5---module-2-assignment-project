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09728" cy="18288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42A5F5"/>
                </a:solidFill>
              </a:rPr>
              <a:t>MODULE 2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FFFFFF"/>
                </a:solidFill>
              </a:rPr>
              <a:t>Leveraging E-Commerce Data
for Strategic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BDEFB"/>
                </a:solidFill>
              </a:rPr>
              <a:t>Harnessing transaction data to identify market expansion opportunities and drive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90CAF9"/>
                </a:solidFill>
              </a:rPr>
              <a:t>DS5 Team 5  |  Caleb Cheah · Fiona Lim · Kevin Chua · Ng Zhenxian · Soh Shi Hui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90CAF9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What we will cover in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The problem we set out to solve and expected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Data Pipeline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04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How data flows from raw CSVs to business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Data Quality &amp; Star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64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Cleaning rules, validation results, and analytical model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Business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25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Revenue insights, delivery performance, and market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Recommendations &amp;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285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Strategic recommendations and known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The problem, solution, and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411480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D47A1"/>
                </a:solidFill>
              </a:rPr>
              <a:t>🔍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Siloed transaction data across 9 CSV files.
No structured pipeline or analytics layer.
Business teams lack actionable market insights.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114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2E7D32"/>
                </a:solidFill>
              </a:rPr>
              <a:t>⚙️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End-to-end ELT pipeline:
Supabase → Meltano → BigQuery
dbt transforms to star schema
Python analytics layer on clean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657600" cy="41148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E65100"/>
                </a:solidFill>
              </a:rPr>
              <a:t>📈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~R$1.1M revenue growth opportunity identified
in 5 underserved markets (PA, CE, PE, AM, BA).
Top 3 product categories prioritised.
Automated, repeatable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Driving revenue growth through data-driven market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Core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Leverage existing e-commerce transaction data to uncover new revenue streams and optimise market penetration.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3035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E7D32"/>
                </a:solidFill>
              </a:rPr>
              <a:t>Key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→  Continue expansion in SP, RJ &amp; MG (high-GDP states)
→  Target 5 underserved markets: PA, CE, PE, AM &amp; BA
→  Optimise product category mix based on revenue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577840" cy="35661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E65100"/>
                </a:solidFill>
              </a:rPr>
              <a:t>Business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R$15.9M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Total revenue processed (2016–2018)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96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98,673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Clean orders in analytical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009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~R$1.1M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46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Projected revenue from 5 growth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056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93.3%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On-time delivery rate — industry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End-to-end flow from raw transaction data to 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
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Kaggle /
Supabase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9 CSVs
uploaded via
Supabase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EXTRACT
&amp;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Meltano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tap-postgres
→ BigQuery
batch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
WAREHOUSE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BigQuery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Raw schema:
Supabase_data
(our-project-93971)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dbt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24 models:
Staging → DQ
→ Star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Jupyter +
BigQuery client
for insights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0D47A1"/>
                </a:solidFill>
              </a:rPr>
              <a:t>All models output to BigQuery dataset "Extracted_data" with sub-schemas: Extracted_data_staging | Extracted_data_data_quality | Extracted_data_star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Transformation within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Three-layer architecture for reliable, validated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STAGING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9 view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Type casting: timestamps, FLOAT64, INT64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String normalisation: NULLIF for empty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Column renaming to clean conventions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One-to-one mapping from raw source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DATA QUALITY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9 table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Null checks on all key 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Logic validation: invalid statuses, score range 1–5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Range checks: lat/lng within Brazil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Value checks: zero/negative prices and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079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→ 9 payment, 42 geo, 610 product rows quarantined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097280"/>
            <a:ext cx="3657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STAR SCHEMA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6 table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DQ-filtered: bad records excluded via LEFT JOIN anti-join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fact_order_items: 112,650 rows (revenue grain)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fact_orders: 99,441 rows (order grain)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dim_customers, dim_products, dim_sellers, dim_dates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Quality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dbt run completed: 24/24 models built, PASS=24, WARN=0, ERROR=0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DQ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70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Flagged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70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Issue Types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1704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Star Schema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82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82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customer/status, delivered before purchased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82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fact_orders cleaned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055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854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1854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854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customer_id, customer_unique_id,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854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dim_customers fully clean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3347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88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883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883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IDs, zero/negative price or freight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88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fact_order_items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3639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912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191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1912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zero or negative payment_value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91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9 rows quarantined — excluded from star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3931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94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6941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review_id/order_id, score outside 1–5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fact_orders reviews clean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4223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970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1970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610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1970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category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610 products without category (excluded)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4515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000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dq_sellers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7000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seller_id or zip_code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700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dim_sellers fully clean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4807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202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dq_geolocation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202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2029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lat/lng outside Brazil boundaries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42 locations quarantined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5099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058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dq_category_names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5705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57058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Portuguese or English category 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7058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All translations valid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Analytical layer in BigQuery — Extracted_data_star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📊  FACT TABLES — Quantitative transaction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fact_order_items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100">
                <a:solidFill>
                  <a:srgbClr val="1565C0"/>
                </a:solidFill>
              </a:rPr>
              <a:t>112,650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555555"/>
                </a:solidFill>
              </a:rPr>
              <a:t>order_id · order_item_id · product_id · seller_id · customer_id
price · freight_value · total_item_cost · purchase_date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3035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fact_orders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100">
                <a:solidFill>
                  <a:srgbClr val="1565C0"/>
                </a:solidFill>
              </a:rPr>
              <a:t>99,441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555555"/>
                </a:solidFill>
              </a:rPr>
              <a:t>order_id · customer_id · order_status · purchase_date
delivery_days · estimated_delivery_days · review_score · total_payment_value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📋  DIMENSION TABLES — Contextual descriptors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64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764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99,441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customer_id · customer_unique_id · city · state · zip_code_prefix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62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620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32,340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product_id · category_name · category_name_english · name_length · weight_g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8620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dim_sellers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9593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3,095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976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seller_id · city · state · zip_code_prefix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983479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056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05663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1,096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date_id · year · month · month_name · quarter · day_of_week · is_weekend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Key Business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Live numbers from the clean star schema — BigQuery Extracted_data_star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0D47A1"/>
                </a:solidFill>
              </a:rPr>
              <a:t>R$15.9M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All orders 2016–2018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2E7D32"/>
                </a:solidFill>
              </a:rPr>
              <a:t>98,673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After DQ exclusions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65176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AVG REVIEW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E65100"/>
                </a:solidFill>
              </a:rPr>
              <a:t>4.09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Delivered 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188720"/>
            <a:ext cx="2651760" cy="29260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188720"/>
            <a:ext cx="26517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ON-TIME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6A1B9A"/>
                </a:solidFill>
              </a:rPr>
              <a:t>93.3%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Actual ≤ estimated 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D47A1"/>
                </a:solidFill>
              </a:rPr>
              <a:t>Data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✅  24/24 dbt models built cleanly  ·  ✅  53/53 schema tests passed  ·  ✅  0 model errors  ·  ⚠  9 payment rows quarantined (zero/negative values)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Revenue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Top product categories and geographic revenue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Top 10 Product Categories by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93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health beauty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R$ 1,441,248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934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8,836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02536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66543"/>
            <a:ext cx="2070753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756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watches gifts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7568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R$ 1,305,542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5,624 orders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32888"/>
            <a:ext cx="1969463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420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bed bath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5420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R$ 1,241,682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4203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9,417 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35224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99232"/>
            <a:ext cx="1834601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0837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sports leisure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0837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R$ 1,156,656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00837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7,720 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1568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65576"/>
            <a:ext cx="1680138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4747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computers accessories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4747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R$ 1,059,272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47472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6,689 orders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67911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1431497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941063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furniture decor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941063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R$ 902,512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941063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6,449 orders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34256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398264"/>
            <a:ext cx="1234636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4074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housewares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40740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R$ 778,398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4074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5,884 orders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864608"/>
            <a:ext cx="1140947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87375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cool stuff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737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R$ 719,330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87375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3,632 orders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66944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330952"/>
            <a:ext cx="1087104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34009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auto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3400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R$ 685,384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534009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3,897 orders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733288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797296"/>
            <a:ext cx="926644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806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garden 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80644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R$ 584,219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58064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3,518 orders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1161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Revenue by Customer State (Top 10)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1536192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160934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160934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São Paulo 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6093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R$ 5,998,227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160934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41,746 orders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002536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7960" y="20756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59168" y="20756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Rio de Janeiro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20756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R$ 2,144,380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12,852 orders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468880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25420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MG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9168" y="254203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Minas Gerais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25420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R$ 1,872,257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254203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11,635 orders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2935224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30083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59168" y="300837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Rio Grande do Sul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300837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R$ 890,899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300837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5,466 orders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3401568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37960" y="34747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PR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9168" y="34747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Paraná 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0" y="347472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R$ 811,156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98480" y="347472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5,045 orders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3867911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37960" y="3941063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SC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9168" y="3941063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Santa Catarina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3941063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R$ 623,086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98480" y="3941063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3,637 orders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334256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37960" y="440740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BA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59168" y="440740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Bahia 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0" y="440740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R$ 616,646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44074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3,380 orders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4800600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37960" y="48737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DF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59168" y="487375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Distrito Federal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48737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R$ 355,141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0" y="487375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2,140 orders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5266944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37960" y="534009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GO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59168" y="534009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Goiás 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534009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R$ 350,092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98480" y="534009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2,020 orders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5733288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37960" y="580644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9168" y="580644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Espírito Santo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58064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R$ 325,968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8480" y="58064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2,033 orders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On-time delivery strongly correlates with customer review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46888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2E7D32"/>
                </a:solidFill>
              </a:rPr>
              <a:t>93.2%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On-Time or Early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468880" cy="16459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E65100"/>
                </a:solidFill>
              </a:rPr>
              <a:t>6.8%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Delivered 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2468880" cy="1645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1565C0"/>
                </a:solidFill>
              </a:rPr>
              <a:t>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Median Delay
(late orders only)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097280"/>
            <a:ext cx="2468880" cy="164592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0D47A1"/>
                </a:solidFill>
              </a:rPr>
              <a:t>12.5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Avg Delivery Days
(delivered orders)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112471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35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Delivery Performance by Review Score — Key Finding: Late delivery = lower satisfaction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11247120" cy="347472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Review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Order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Avg Actual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Avg Delay vs Estimated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% Late Deliveries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Insight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11247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03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 1 (Worst)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803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9,355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803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21.3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803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-4.0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03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36.7%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803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Very late → very unhappy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79392"/>
            <a:ext cx="1124712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342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2,921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334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16.6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3342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-8.6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334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18.9%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Late → dissatisfied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09744"/>
            <a:ext cx="11247120" cy="50292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64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4864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7,917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14.2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864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-10.8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8.8%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864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Moderate delay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40096"/>
            <a:ext cx="11247120" cy="50292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⭐⭐⭐⭐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18,888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12.2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-12.4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3.4%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Near on-time → satisfied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925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⭐⭐⭐⭐⭐ 5 (Best)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925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56,749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925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10.6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5925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-13.4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5925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925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Early delivery → delighted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Market Analysis — Identifying Growth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Gap Index = GDP Share % − Revenue Share % | Positive = Underserved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0D47A1"/>
                </a:solidFill>
              </a:rPr>
              <a:t>Methodology: Revenue Intensity = Total Revenue (12 mths) / $1M GDP  |  Gap Index = GDP Share % – Revenue Share %  |  High positive = Underserved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State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Current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Projected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Revenue Increase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801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GDP (Estimated)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3113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Pará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R$ 218,296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R$ 519,263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+R$ 300,967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311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R$ 297B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112471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6265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Ceará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R$ 279,464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R$ 503,588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+R$ 224,124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626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R$ 288B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1188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9417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Pernambuco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R$ 324,850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R$ 542,571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+R$ 217,721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69417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R$ 310B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43400"/>
            <a:ext cx="112471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25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Amazonas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R$ 27,967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R$ 240,885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+R$ 212,918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4256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R$ 138B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15721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Bahia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R$ 616,646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R$ 781,537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+R$ 164,891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1572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R$ 447B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E7D32"/>
                </a:solidFill>
              </a:rPr>
              <a:t>📈  Total projected revenue increase from 5 growth markets:  R$ 1,120,621 ≈ R$ 1.1M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Three actionable strategies to drive revenue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539496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6400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Customer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Maintain dominance in SP, RJ &amp; MG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Continue investment in top 3 states (63% of total revenue)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Monitor &amp; improve delivery performance in RJ (18.3% low-score rate)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Leverage high AOV in RJ (R$167) and MG (R$161) for premium product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Use dim_customers state data to personalise marketing campaigns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097280"/>
            <a:ext cx="3749039" cy="53949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097280"/>
            <a:ext cx="6400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Capture New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Enter 5 underserved mid-tier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Target: PA · CE · PE · AM · BA (positive gap index)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Potential: ~R$1.1M additional revenue if penetration matches top-3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PA largest single opportunity: +R$301K projected increase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Prioritise seller recruitment in target states to reduce delivery times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097280"/>
            <a:ext cx="3749039" cy="53949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1097280"/>
            <a:ext cx="64008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65100"/>
                </a:solidFill>
              </a:rPr>
              <a:t>Product Budget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Focus marketing on high-revenue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Health &amp; Beauty: R$ 1.44M — fastest growing, high avg price R$130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Watches &amp; Gifts: R$ 1.31M — highest avg price R$201, premium segment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Bed, Bath &amp; Table: R$ 1.24M — highest order count 9,417 (volume leader)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Reduce spend on low-AOV categories with high late-delivery complaints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Known limitations and planned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34440"/>
          </a:xfrm>
          <a:prstGeom prst="rect">
            <a:avLst/>
          </a:prstGeom>
          <a:solidFill>
            <a:srgbClr val="FFEBEE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Data Freshness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Dataset covers 2016–2018. Consumer behaviour and market conditions have changed significantly.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9844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Connect pipeline to live Olist/operational data feed. dim_dates can extend to any range. Scheduled dbt runs via orchestration tool (Dagster/Airflow).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32888"/>
            <a:ext cx="11247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426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Market Expansion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900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GDP-based gap index assumes homogeneous purchasing behaviour across states. Actual demand may differ due to logistics costs, local competition, and product preferences.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42616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A/B test expansion in one state (e.g. PR) before full rollout. Track revenue_intensity monthly. Adjust target list based on real-world conversion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11247120" cy="1234440"/>
          </a:xfrm>
          <a:prstGeom prst="rect">
            <a:avLst/>
          </a:prstGeom>
          <a:solidFill>
            <a:srgbClr val="FFEBEE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867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Product Concentration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3425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Top 3 categories (health_beauty, watches_gifts, bed_bath_table) represent ~30% of revenue. Supplier or trend changes could materially impact overall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986784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Diversify supplier base across top categories. Monitor category trends monthly using dim_dates + fact_order_items. Set revenue concentration alerts in dashboard.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21224"/>
            <a:ext cx="11247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21224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3309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Pipeline Reliability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7842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Current pipeline relies on manual Meltano runs. If extraction fails, star schema is stale and analytics are based on outdated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30952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Implement scheduled orchestration (GitHub Actions or Dagster). Add dbt source freshness tests. Set up alerting on dbt test failures.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Transitioning to dynamic, real-time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Pipeline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Schedule dbt runs via Dagster or GitHub Actions. Automated quality checks trigger on every pipeline execution. Alerting on test failures.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Connect interactive dashboard to live BigQuery views. Business team tracks KPIs in real-time without technical intervention.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Market Expansion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79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Monthly revenue_intensity monitoring for PA, CE, PE, AM &amp; BA. Automated alerts when gap index narrows below threshold.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1363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Customer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79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Build RFM (Recency, Frequency, Monetary) segments using dim_customers + fact_orders. Personalised marketing per segment.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42A5F5"/>
                </a:solidFill>
              </a:rPr>
              <a:t>We are happy to dive deeper into any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90CAF9"/>
                </a:solidFill>
              </a:rPr>
              <a:t>Data  ·  Pipeline Architecture  ·  DBT Models  ·  Analytics  · 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4B5F6"/>
                </a:solidFill>
              </a:rPr>
              <a:t>DS5 Team 5  |  Caleb Cheah · Fiona Lim · Kevin Chua · Ng Zhenxian · Soh Shi Hui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